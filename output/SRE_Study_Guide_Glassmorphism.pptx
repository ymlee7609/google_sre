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7E8F9"/>
                </a:solidFill>
                <a:latin typeface="Segoe UI"/>
              </a:defRPr>
            </a:pPr>
            <a:r>
              <a:t>Google SRE 3권 교차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68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SRE Study Guide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657600"/>
            <a:ext cx="27432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931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0C0"/>
                </a:solidFill>
                <a:latin typeface="Segoe UI"/>
              </a:defRPr>
            </a:pPr>
            <a:r>
              <a:t>12주 커리큘럼  |  34 + 21 + 21 Chapters  |  교차 참조 테이블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Site Reliability Engineering  —  Cross-Study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3권의 역할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22860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62895" cy="128016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67E8F9"/>
                </a:solidFill>
                <a:latin typeface="Calibri Light"/>
              </a:defRPr>
            </a:pPr>
            <a:r>
              <a:t>SRE 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0C0"/>
                </a:solidFill>
                <a:latin typeface="Segoe UI"/>
              </a:defRPr>
            </a:pPr>
            <a:r>
              <a:t>주교재 (이론)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0F0"/>
                </a:solidFill>
                <a:latin typeface="Segoe UI"/>
              </a:defRPr>
            </a:pPr>
            <a:r>
              <a:t>Google SRE의 원칙, 실무, 조직 운영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0A0C0"/>
                </a:solidFill>
                <a:latin typeface="Consolas"/>
              </a:defRPr>
            </a:pPr>
            <a:r>
              <a:t>34 Chapters + 6 Appendices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017520"/>
            <a:ext cx="10362895" cy="128016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A78BFA"/>
                </a:solidFill>
                <a:latin typeface="Calibri Light"/>
              </a:defRPr>
            </a:pPr>
            <a:r>
              <a:t>Workbook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0C0"/>
                </a:solidFill>
                <a:latin typeface="Segoe UI"/>
              </a:defRPr>
            </a:pPr>
            <a:r>
              <a:t>실습 보충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0F0"/>
                </a:solidFill>
                <a:latin typeface="Segoe UI"/>
              </a:defRPr>
            </a:pPr>
            <a:r>
              <a:t>SRE Book의 개념을 실무에 적용하는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0A0C0"/>
                </a:solidFill>
                <a:latin typeface="Consolas"/>
              </a:defRPr>
            </a:pPr>
            <a:r>
              <a:t>21 Chapters + 3 Appendices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572000"/>
            <a:ext cx="10362895" cy="128016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709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6EE7B7"/>
                </a:solidFill>
                <a:latin typeface="Calibri Light"/>
              </a:defRPr>
            </a:pPr>
            <a:r>
              <a:t>BSRS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0C0"/>
                </a:solidFill>
                <a:latin typeface="Segoe UI"/>
              </a:defRPr>
            </a:pPr>
            <a:r>
              <a:t>보안/설계 보충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212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0F0"/>
                </a:solidFill>
                <a:latin typeface="Segoe UI"/>
              </a:defRPr>
            </a:pPr>
            <a:r>
              <a:t>보안과 신뢰성을 통합한 시스템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0A0C0"/>
                </a:solidFill>
                <a:latin typeface="Consolas"/>
              </a:defRPr>
            </a:pPr>
            <a:r>
              <a:t>21 Chapters + 1 Appendix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학습 방법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22860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362895" cy="91440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508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7E8F9"/>
                </a:solidFill>
                <a:latin typeface="Calibri Light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SRE Book 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874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0F0"/>
                </a:solidFill>
                <a:latin typeface="Segoe UI"/>
              </a:defRPr>
            </a:pPr>
            <a:r>
              <a:t>SRE Book을 주교재로 순서대로 학습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14600"/>
            <a:ext cx="10362895" cy="91440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651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7E8F9"/>
                </a:solidFill>
                <a:latin typeface="Calibri Light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교차 참조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0F0"/>
                </a:solidFill>
                <a:latin typeface="Segoe UI"/>
              </a:defRPr>
            </a:pPr>
            <a:r>
              <a:t>각 챕터 학습 후 관련 Workbook/BSRS 챕터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10362895" cy="91440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794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7E8F9"/>
                </a:solidFill>
                <a:latin typeface="Calibri Light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749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Workbook 보충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160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0F0"/>
                </a:solidFill>
                <a:latin typeface="Segoe UI"/>
              </a:defRPr>
            </a:pPr>
            <a:r>
              <a:t>Workbook으로 실무 적용 방법을 보충 학습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00600"/>
            <a:ext cx="10362895" cy="91440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937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7E8F9"/>
                </a:solidFill>
                <a:latin typeface="Calibri Light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892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BSRS 보충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303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0F0"/>
                </a:solidFill>
                <a:latin typeface="Segoe UI"/>
              </a:defRPr>
            </a:pPr>
            <a:r>
              <a:t>BSRS로 보안/신뢰성 관점에서 설계 보충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Study Method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12주 학습 커리큘럼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22860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474720" cy="210312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7E8F9"/>
                </a:solidFill>
                <a:latin typeface="Calibri Light"/>
              </a:defRPr>
            </a:pPr>
            <a:r>
              <a:t>W1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17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0C0"/>
                </a:solidFill>
                <a:latin typeface="Consolas"/>
              </a:defRPr>
            </a:pPr>
            <a:r>
              <a:t>2Ch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Part I: 서론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188720"/>
            <a:ext cx="3474720" cy="210312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7E8F9"/>
                </a:solidFill>
                <a:latin typeface="Calibri Light"/>
              </a:defRPr>
            </a:pPr>
            <a:r>
              <a:t>W2-3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1417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0C0"/>
                </a:solidFill>
                <a:latin typeface="Consolas"/>
              </a:defRPr>
            </a:pPr>
            <a:r>
              <a:t>7Ch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Part II: 원칙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188720"/>
            <a:ext cx="3474720" cy="210312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9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78BFA"/>
                </a:solidFill>
                <a:latin typeface="Calibri Light"/>
              </a:defRPr>
            </a:pPr>
            <a:r>
              <a:t>W4-8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9" y="1417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0C0"/>
                </a:solidFill>
                <a:latin typeface="Consolas"/>
              </a:defRPr>
            </a:pPr>
            <a:r>
              <a:t>18Ch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Part III: 실무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3474720" cy="210312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78BFA"/>
                </a:solidFill>
                <a:latin typeface="Calibri Light"/>
              </a:defRPr>
            </a:pPr>
            <a:r>
              <a:t>W9-10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886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0C0"/>
                </a:solidFill>
                <a:latin typeface="Consolas"/>
              </a:defRPr>
            </a:pPr>
            <a:r>
              <a:t>5Ch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89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Part IV: 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3657600"/>
            <a:ext cx="3474720" cy="210312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1999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EE7B7"/>
                </a:solidFill>
                <a:latin typeface="Calibri Light"/>
              </a:defRPr>
            </a:pPr>
            <a:r>
              <a:t>W11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3886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0C0"/>
                </a:solidFill>
                <a:latin typeface="Consolas"/>
              </a:defRPr>
            </a:pPr>
            <a:r>
              <a:t>2Ch+App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4389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Part V: 결론/부록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3657600"/>
            <a:ext cx="3474720" cy="210312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9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EE7B7"/>
                </a:solidFill>
                <a:latin typeface="Calibri Light"/>
              </a:defRPr>
            </a:pPr>
            <a:r>
              <a:t>W12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19" y="3886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0C0"/>
                </a:solidFill>
                <a:latin typeface="Consolas"/>
              </a:defRPr>
            </a:pPr>
            <a:r>
              <a:t>9Ch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39" y="4389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Segoe UI"/>
              </a:defRPr>
            </a:pPr>
            <a:r>
              <a:t>보충 학습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12-Week Curriculum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7E8F9"/>
                </a:solidFill>
                <a:latin typeface="Calibri Light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0C0"/>
                </a:solidFill>
                <a:latin typeface="Segoe UI"/>
              </a:defRPr>
            </a:pPr>
            <a:r>
              <a:t>Part I: 서론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77295" cy="182880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보충 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학습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1일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Ch01 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Workbook Ch01, BSRS Ch01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SRE 정의, DevOps 관계, 보안-신뢰성 교차점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2일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Ch02 Production 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Google 프로덕션 환경 이해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Week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7E8F9"/>
                </a:solidFill>
                <a:latin typeface="Calibri Light"/>
              </a:defRPr>
            </a:pPr>
            <a:r>
              <a:t>Week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0C0"/>
                </a:solidFill>
                <a:latin typeface="Segoe UI"/>
              </a:defRPr>
            </a:pPr>
            <a:r>
              <a:t>Part II: 원칙 (전반)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77295" cy="301752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보충 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학습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1일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Ch03 Embracing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Ch02-03, BSRS Ch04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리스크 수용, SLO 구현, 설계 트레이드오프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2일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Ch04 Service Level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Ch02-03, Ch05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SLO 정의, SLO 기반 알림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3일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Ch05 Eliminating Toil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토일 정의, 제거 전략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24611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4일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2461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Ch06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2461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Ch04-05, BSRS Ch15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2461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모니터링 원칙, SLO 알림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Week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7E8F9"/>
                </a:solidFill>
                <a:latin typeface="Calibri Light"/>
              </a:defRPr>
            </a:pPr>
            <a:r>
              <a:t>Week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0C0"/>
                </a:solidFill>
                <a:latin typeface="Segoe UI"/>
              </a:defRPr>
            </a:pPr>
            <a:r>
              <a:t>Part II: 원칙 (후반)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77295" cy="242316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보충 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학습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1일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Ch07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BSRS Ch07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자동화 발전, 변화 대응 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2일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Ch08 Release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Ch16, BSRS Ch14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릴리스 엔지니어링, 카나리 배포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3일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Ch09 Simplicity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Ch07, BSRS Ch06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단순성 원칙, 이해 가능한 설계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Week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7E8F9"/>
                </a:solidFill>
                <a:latin typeface="Calibri Light"/>
              </a:defRPr>
            </a:pPr>
            <a:r>
              <a:t>Week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0C0"/>
                </a:solidFill>
                <a:latin typeface="Segoe UI"/>
              </a:defRPr>
            </a:pPr>
            <a:r>
              <a:t>Part III: 실무 (알림 &amp; 온콜)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77295" cy="242316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보충 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학습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1일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Ch10 Practical Alerting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Ch04-05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시계열 기반 알림 실무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2일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Ch11 Being On-Call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온콜 운영 원칙과 실무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3일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Ch12 Troubleshooting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BSRS Ch15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효과적인 문제 해결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Week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7E8F9"/>
                </a:solidFill>
                <a:latin typeface="Calibri Light"/>
              </a:defRPr>
            </a:pPr>
            <a:r>
              <a:t>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0C0"/>
                </a:solidFill>
                <a:latin typeface="Segoe UI"/>
              </a:defRPr>
            </a:pPr>
            <a:r>
              <a:t>Part III: 인시던트 대응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77295" cy="301752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보충 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학습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1일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Ch13 Emergency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Ch09, BSRS Ch17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긴급 대응, 위기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2일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Ch14 Managing Incidents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Ch09, BSRS Ch17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인시던트 관리 프로세스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3일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Ch15 Postmortem Culture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Ch10, BSRS Ch18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포스트모템 문화, 복구 후속 조치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24611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4일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2461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Ch16 Tracking Outages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2461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2461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장애 추적 시스템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Week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7E8F9"/>
                </a:solidFill>
                <a:latin typeface="Calibri Light"/>
              </a:defRPr>
            </a:pPr>
            <a:r>
              <a:t>Week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0C0"/>
                </a:solidFill>
                <a:latin typeface="Segoe UI"/>
              </a:defRPr>
            </a:pPr>
            <a:r>
              <a:t>Part III: 테스트 &amp; 개발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77295" cy="242316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보충 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학습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1일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Ch17 Testing for Reliability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BSRS Ch13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신뢰성 테스트, 코드 테스트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2일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Ch18 Software Engineering in SRE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BSRS Ch12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SRE의 SW 엔지니어링, 코드 작성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3일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Ch19 Load Balancing (FE)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프론트엔드 로드 밸런싱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Week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7E8F9"/>
                </a:solidFill>
                <a:latin typeface="Calibri Light"/>
              </a:defRPr>
            </a:pPr>
            <a:r>
              <a:t>Week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0C0"/>
                </a:solidFill>
                <a:latin typeface="Segoe UI"/>
              </a:defRPr>
            </a:pPr>
            <a:r>
              <a:t>Part III: 부하 &amp; 장애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77295" cy="242316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보충 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학습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1일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Ch20 Load Balancing (DC)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데이터센터 로드 밸런싱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2일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Ch21 Handling Overload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Ch17, BSRS Ch10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과부하 처리, DoS 대응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3일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Ch22 Cascading Failures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Ch17, BSRS Ch08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연쇄 장애 대응, 복원력 설계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Week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7E8F9"/>
                </a:solidFill>
                <a:latin typeface="Calibri Light"/>
              </a:defRPr>
            </a:pPr>
            <a:r>
              <a:t>Week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0C0"/>
                </a:solidFill>
                <a:latin typeface="Segoe UI"/>
              </a:defRPr>
            </a:pPr>
            <a:r>
              <a:t>Part III: 분산 시스템 &amp; 데이터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77295" cy="301752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보충 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학습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1일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Ch23 Managing Critical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분산 합의, 크리티컬 상태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2일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Ch24 Distributed Scheduling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분산 크론 스케줄링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3일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Ch25 Data Pipelines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데이터 파이프라인 설계와 운영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24611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4일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2461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Ch26 Data Integrity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2461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BSRS Ch09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2461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데이터 무결성, 복구 설계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Week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7E8F9"/>
                </a:solidFill>
                <a:latin typeface="Calibri Light"/>
              </a:defRPr>
            </a:pPr>
            <a:r>
              <a:t>Week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0C0"/>
                </a:solidFill>
                <a:latin typeface="Segoe UI"/>
              </a:defRPr>
            </a:pPr>
            <a:r>
              <a:t>Part III 마무리 + Part IV 시작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77295" cy="242316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보충 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학습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1일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Ch27 Product Launches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Ch16, BSRS Ch14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대규모 제품 출시, 카나리 배포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2일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Ch28 Accelerating SREs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SRE 온보딩, 팀 생명주기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3일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Ch29 Dealing with Interrupts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인터럽트 관리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Week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7E8F9"/>
                </a:solidFill>
                <a:latin typeface="Calibri Light"/>
              </a:defRPr>
            </a:pPr>
            <a:r>
              <a:t>Week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0C0"/>
                </a:solidFill>
                <a:latin typeface="Segoe UI"/>
              </a:defRPr>
            </a:pPr>
            <a:r>
              <a:t>Part IV: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77295" cy="242316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보충 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학습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1일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Ch30 Operational Overload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SRE 파견, 운영 과부하 복구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2일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Ch31 Communication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Ch19, BSRS Ch20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SRE 커뮤니케이션, 역할과 책임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3일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Ch32 SRE 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Ch18, Ch21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SRE 참여 모델 진화, 조직 변화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Week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7E8F9"/>
                </a:solidFill>
                <a:latin typeface="Calibri Light"/>
              </a:defRPr>
            </a:pPr>
            <a:r>
              <a:t>Week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0C0"/>
                </a:solidFill>
                <a:latin typeface="Segoe UI"/>
              </a:defRPr>
            </a:pPr>
            <a:r>
              <a:t>Part V: 결론 및 부록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77295" cy="242316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보충 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학습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1일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Ch33 Lessons Learned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BSRS Ch21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타 산업의 교훈, 보안/신뢰성 문화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2일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Ch34 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WB/BSRS 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3권 종합 정리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3일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Appendix A-F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App A-C, BSRS App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참조 자료 통합 학습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Week 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7E8F9"/>
                </a:solidFill>
                <a:latin typeface="Calibri Light"/>
              </a:defRPr>
            </a:pPr>
            <a:r>
              <a:t>Week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0C0"/>
                </a:solidFill>
                <a:latin typeface="Segoe UI"/>
              </a:defRPr>
            </a:pPr>
            <a:r>
              <a:t>보충 학습 (고유 챕터)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77295" cy="301752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보충 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  <a:latin typeface="Segoe UI"/>
              </a:defRPr>
            </a:pPr>
            <a:r>
              <a:t>학습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1일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BSRS Ch02-03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위협 행위자, Safe Proxies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2일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BSRS Ch05, Ch11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최소 권한, 공개 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3일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BSRS Ch16, Ch19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재해 계획, Chrome 보안팀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24611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4일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2461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WB Ch12, Ch14-15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2461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2461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NALSD, 설정 관리 설계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Week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교차 참조  —  Part I — 서론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2860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960120"/>
            <a:ext cx="11460175" cy="150876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33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033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Workbook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033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BSRS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Ch01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Ch01 How SRE Relates to DevOps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Ch01 Intersection of Security and Reliability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Ch02 Production 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Cross Reference 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교차 참조  —  Part II — 원칙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2860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960120"/>
            <a:ext cx="11460175" cy="379476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33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033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Workbook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033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BSRS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Ch03 Embracing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Ch02-03 SLOs / Case Studies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Ch04 Design Tradeoffs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Ch04 Service Level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Ch02-03, Ch05 Alerting on SLOs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Ch05 Eliminating Toil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Ch06 Eliminating Toil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Ch06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Ch04-05 Monitoring / Alerting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Ch15 Investigating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Ch07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Ch07 Design for Changing Landscape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Ch08 Release 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65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Ch16 Canarying Releases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65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Ch14 Deploying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Ch09 Simplicity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Ch07 Simplicity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Ch06 Design for Understandability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Cross Reference II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교차 참조  —  Part III — 실무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2860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960120"/>
            <a:ext cx="11460175" cy="470916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33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033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Workbook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033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BSRS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Ch10 Practical Alerting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Ch04-05 Monitoring / Alerting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Ch11 Being On-Call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Ch08 On-Call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Ch12 Troubleshooting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Ch15 Investigating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Ch13 Emergency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606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Ch09 Incident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606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Ch17 Crisis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Ch14 Managing Incidents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Ch09 Incident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Ch17 Crisis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429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Ch15 Postmortem Culture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429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Ch10 Postmortem Culture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429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Ch18 Recovery and Aftermath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Ch16 Tracking Outages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840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840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51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Ch17 Testing for Reliability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Ch13 Testing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Ch18 Software Engineering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0E0F0"/>
                </a:solidFill>
                <a:latin typeface="Segoe UI"/>
              </a:defRPr>
            </a:pPr>
            <a:r>
              <a:t>Ch12 Writing Code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Cross Reference III-1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교차 참조  —  Part III — 실무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2860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960120"/>
            <a:ext cx="11460175" cy="425196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33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033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Workbook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033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BSRS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Ch19-20 Load Balancing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Ch11 Managing 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Ch21 Handling Overload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Ch17 Overload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Ch10 Mitigating 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Ch22 Cascading Failures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Ch17 Overload 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Ch08 Design for Resilience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Ch23 Managing Critical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Ch24 Distributed Scheduling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Ch25 Data Pipelines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65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Ch13 Data 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65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Ch26 Data Integrity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Ch09 Design for Recovery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Ch27 Product Launches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Ch16 Canarying Releases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Ch14 Deploying Code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Cross Reference III-2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교차 참조  —  Part IV — 관리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2860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960120"/>
            <a:ext cx="11460175" cy="288036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33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033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Workbook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033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BSRS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Ch28 Accelerating SREs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Ch20 SRE Team Lifecycles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Ch29 Dealing with Interrupts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Ch30 Operational Overload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Ch18 SRE Engagement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Ch31 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Ch19 Reaching Beyond Your Walls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Ch20 Roles and Responsibilities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Ch32 SRE 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Ch18, Ch21 Organizational 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Cross Reference IV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교차 참조  —  Part V — 결론 및 부록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22860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960120"/>
            <a:ext cx="11460175" cy="196596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33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SRE 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033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Workbook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0332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Segoe UI"/>
              </a:defRPr>
            </a:pPr>
            <a:r>
              <a:t>BSRS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Ch33 Lessons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Ch21 Building a Culture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Ch34 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Appendix A-F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Appendix A-C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0E0F0"/>
                </a:solidFill>
                <a:latin typeface="Segoe UI"/>
              </a:defRPr>
            </a:pPr>
            <a:r>
              <a:t>Appendix 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Cross Reference V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보충 학습 — BSRS 고유 챕터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22860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94415" cy="64008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78BFA"/>
                </a:solidFill>
                <a:latin typeface="Segoe UI"/>
              </a:defRPr>
            </a:pPr>
            <a:r>
              <a:t>Ch02 Understanding Adversaries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0"/>
                </a:solidFill>
                <a:latin typeface="Segoe UI"/>
              </a:defRPr>
            </a:pPr>
            <a:r>
              <a:t>위협 행위자 유형과 동기 분석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11094415" cy="64008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78BFA"/>
                </a:solidFill>
                <a:latin typeface="Segoe UI"/>
              </a:defRPr>
            </a:pPr>
            <a:r>
              <a:t>Ch03 Case Study: Safe Proxies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0"/>
                </a:solidFill>
                <a:latin typeface="Segoe UI"/>
              </a:defRPr>
            </a:pPr>
            <a:r>
              <a:t>안전한 프록시를 통한 접근 제어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43200"/>
            <a:ext cx="11094415" cy="64008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78BFA"/>
                </a:solidFill>
                <a:latin typeface="Segoe UI"/>
              </a:defRPr>
            </a:pPr>
            <a:r>
              <a:t>Ch05 Design for Least Privilege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0"/>
                </a:solidFill>
                <a:latin typeface="Segoe UI"/>
              </a:defRPr>
            </a:pPr>
            <a:r>
              <a:t>최소 권한 원칙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20439"/>
            <a:ext cx="11094415" cy="64008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118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78BFA"/>
                </a:solidFill>
                <a:latin typeface="Segoe UI"/>
              </a:defRPr>
            </a:pPr>
            <a:r>
              <a:t>Ch11 Publicly Trusted 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118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0"/>
                </a:solidFill>
                <a:latin typeface="Segoe UI"/>
              </a:defRPr>
            </a:pPr>
            <a:r>
              <a:t>공개 인증 기관 설계/운영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97680"/>
            <a:ext cx="11094415" cy="64008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78BFA"/>
                </a:solidFill>
                <a:latin typeface="Segoe UI"/>
              </a:defRPr>
            </a:pPr>
            <a:r>
              <a:t>Ch16 Disaster 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0"/>
                </a:solidFill>
                <a:latin typeface="Segoe UI"/>
              </a:defRPr>
            </a:pPr>
            <a:r>
              <a:t>재해 대비 계획 수립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74920"/>
            <a:ext cx="11094415" cy="64008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66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78BFA"/>
                </a:solidFill>
                <a:latin typeface="Segoe UI"/>
              </a:defRPr>
            </a:pPr>
            <a:r>
              <a:t>Ch19 Chrome Security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66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0"/>
                </a:solidFill>
                <a:latin typeface="Segoe UI"/>
              </a:defRPr>
            </a:pPr>
            <a:r>
              <a:t>Chrome 보안팀 운영 사례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Supplementary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보충 학습 — Workbook 고유 챕터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22860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94415" cy="64008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78BFA"/>
                </a:solidFill>
                <a:latin typeface="Segoe UI"/>
              </a:defRPr>
            </a:pPr>
            <a:r>
              <a:t>Ch12 Non-Abstract Large System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0"/>
                </a:solidFill>
                <a:latin typeface="Segoe UI"/>
              </a:defRPr>
            </a:pPr>
            <a:r>
              <a:t>비추상적 대규모 시스템 설계 (NALSD)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11094415" cy="64008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78BFA"/>
                </a:solidFill>
                <a:latin typeface="Segoe UI"/>
              </a:defRPr>
            </a:pPr>
            <a:r>
              <a:t>Ch14 Configuration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0"/>
                </a:solidFill>
                <a:latin typeface="Segoe UI"/>
              </a:defRPr>
            </a:pPr>
            <a:r>
              <a:t>설정 관리 설계 원칙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43200"/>
            <a:ext cx="11094415" cy="64008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78BFA"/>
                </a:solidFill>
                <a:latin typeface="Segoe UI"/>
              </a:defRPr>
            </a:pPr>
            <a:r>
              <a:t>Ch15 Configuration Specifics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0"/>
                </a:solidFill>
                <a:latin typeface="Segoe UI"/>
              </a:defRPr>
            </a:pPr>
            <a:r>
              <a:t>설정 관리 구체적 패턴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Supplementary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주제별 집중 학습 경로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2286000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94415" cy="77724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61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7E8F9"/>
                </a:solidFill>
                <a:latin typeface="Calibri Light"/>
              </a:defRPr>
            </a:pPr>
            <a:r>
              <a:t>SLO / 모니터링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0"/>
                </a:solidFill>
                <a:latin typeface="Consolas"/>
              </a:defRPr>
            </a:pPr>
            <a:r>
              <a:t>SRE Ch03-06 → Workbook Ch02-05 → BSRS Ch04, Ch15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11094415" cy="77724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78BFA"/>
                </a:solidFill>
                <a:latin typeface="Calibri Light"/>
              </a:defRPr>
            </a:pPr>
            <a:r>
              <a:t>인시던트 대응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0"/>
                </a:solidFill>
                <a:latin typeface="Consolas"/>
              </a:defRPr>
            </a:pPr>
            <a:r>
              <a:t>SRE Ch13-15 → Workbook Ch09-10 → BSRS Ch17-18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11094415" cy="77724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6B"/>
                </a:solidFill>
                <a:latin typeface="Calibri Light"/>
              </a:defRPr>
            </a:pPr>
            <a:r>
              <a:t>보안 중심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0"/>
                </a:solidFill>
                <a:latin typeface="Consolas"/>
              </a:defRPr>
            </a:pPr>
            <a:r>
              <a:t>BSRS Ch01-05 → SRE Ch17-18 → BSRS Ch12-14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11094415" cy="77724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42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EE7B7"/>
                </a:solidFill>
                <a:latin typeface="Calibri Light"/>
              </a:defRPr>
            </a:pPr>
            <a:r>
              <a:t>대규모 시스템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0"/>
                </a:solidFill>
                <a:latin typeface="Consolas"/>
              </a:defRPr>
            </a:pPr>
            <a:r>
              <a:t>SRE Ch19-24 → Workbook Ch11-13 → BSRS Ch08-09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11094415" cy="77724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023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93D"/>
                </a:solidFill>
                <a:latin typeface="Calibri Light"/>
              </a:defRPr>
            </a:pPr>
            <a:r>
              <a:t>조직 / 문화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0"/>
                </a:solidFill>
                <a:latin typeface="Consolas"/>
              </a:defRPr>
            </a:pPr>
            <a:r>
              <a:t>SRE Ch28-32 → Workbook Ch18-21 → BSRS Ch20-21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SRE Study Guide  —  Study Paths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5486400" cy="4572000"/>
          </a:xfrm>
          <a:prstGeom prst="ellipse">
            <a:avLst/>
          </a:prstGeom>
          <a:solidFill>
            <a:srgbClr val="6B21A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657600"/>
            <a:ext cx="5486400" cy="4114800"/>
          </a:xfrm>
          <a:prstGeom prst="ellipse">
            <a:avLst/>
          </a:prstGeom>
          <a:solidFill>
            <a:srgbClr val="1E3A5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5029200"/>
            <a:ext cx="3657600" cy="2743200"/>
          </a:xfrm>
          <a:prstGeom prst="ellipse">
            <a:avLst/>
          </a:prstGeom>
          <a:solidFill>
            <a:srgbClr val="067A8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1828800"/>
            <a:ext cx="7619695" cy="3200400"/>
          </a:xfrm>
          <a:prstGeom prst="roundRect">
            <a:avLst/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228600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Happy SRE Learning!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383280"/>
            <a:ext cx="30476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657600"/>
            <a:ext cx="6705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C0"/>
                </a:solidFill>
                <a:latin typeface="Segoe UI"/>
              </a:defRPr>
            </a:pPr>
            <a:r>
              <a:t>SRE Book · Workbook · BSRS</a:t>
            </a:r>
            <a:br/>
            <a:r>
              <a:t>12주 교차 학습 커리큘럼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67E8F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0A0C0"/>
                </a:solidFill>
                <a:latin typeface="Consolas"/>
              </a:defRPr>
            </a:pPr>
            <a:r>
              <a:t>Site Reliability Engineering  —  Cross-Study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