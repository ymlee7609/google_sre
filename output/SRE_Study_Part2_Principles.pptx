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2: 원칙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999713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>
                <a:solidFill>
                  <a:srgbClr val="3D3530"/>
                </a:solidFill>
                <a:latin typeface="NanumMyeongjo"/>
              </a:defRPr>
            </a:pPr>
            <a:r>
              <a:t>Site Reliability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2608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A7A6A"/>
                </a:solidFill>
                <a:latin typeface="Malgun Gothic"/>
              </a:defRPr>
            </a:pPr>
            <a:r>
              <a:t>학습 자료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40480"/>
            <a:ext cx="999713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Part 2: 원칙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2: 원칙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D3530"/>
                </a:solidFill>
                <a:latin typeface="NanumMyeongjo"/>
              </a:defRPr>
            </a:pPr>
            <a:r>
              <a:t>Part 2: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73736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Chapter 03  —  Embracing Risk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Chapter 04  —  Service Level Objectives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Chapter 05  —  Eliminating Toil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Chapter 06  —  Monitoring Distributed Systems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Chapter 07  —  The Evolution of Automation at Google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Chapter 08  —  Release Engineering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Chapter 09  —  Simplicity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2: 원칙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7A6A"/>
                </a:solidFill>
                <a:latin typeface="Consolas"/>
              </a:defRPr>
            </a:pPr>
            <a:r>
              <a:t>Chapter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Embracing Risk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004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극단적 신뢰성은 비용이 기하급수적으로 증가하며, 오히려 서비스에 해가 될 수 있다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99% 신뢰성의 스마트폰을 사용하는 유저는 99.99%와 99.999% 서비스 차이를 구분할 수 없다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서비스 리스크는 비계획 다운타임(unplanned downtime)으로 정량화한다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2: 원칙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03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핵심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극단적 신뢰성은 비용이 기하급수적으로 증가하며, 오히려 서비스에 해가 될 수 있다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99% 신뢰성의 스마트폰을 사용하는 유저는 99.99%와 99.999% 서비스 차이를 구분할 수 없다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서비스 리스크는 비계획 다운타임(unplanned downtime)으로 정량화한다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Google은 시간 기반 가용성 대신 요청 성공률(request success rate) 기반 가용성을 사용한다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리스크 허용 범위는 기술적 결정이 아니라 비즈니스/프로덕트 결정이다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에러 버짓 = 1 - 가용성 목표. 이 예산을 혁신과 빠른 출시에 사용한다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인프라 서비스는 명시적으로 구분된 서비스 레벨을 제공하여 클라이언트가 비용/리스크를 선택하게 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가용성 목표는 최소값이자 최대값으로 취급한다 - 과도한 신뢰성도 낭비이다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2: 원칙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03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분기별 가용성 목표를 설정하고 주간/일간 단위로 추적한다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에러 버짓 소진 시 릴리스를 일시 중단하고 시스템 안정성에 투자한다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서비스 유형별 리스크 허용 범위를 차별화한다 (예: 기업용 서비스 vs YouTube)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장애 유형의 영향도를 구분한다 (지속적 저비율 장애 vs 간헐적 전면 장애)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인프라 서비스는 저지연 클러스터와 처리량 클러스터를 분리 운영하여 비용을 최적화한다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ISP 백그라운드 에러율(0.01%~1%)을 참고하여 서비스 에러율 목표를 설정한다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비용/수익 분석으로 추가 나인(nine)의 가치를 정량적으로 평가한다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2: 원칙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D9CFC4"/>
                </a:solidFill>
                <a:latin typeface="NanumMyeongjo"/>
              </a:defRPr>
            </a:pPr>
            <a: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100% is probably never the right reliability target: not only is it impossible to achieve, it's typically more reliability than a service's users want or notice.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774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An outage is no longer a 'bad' thing - it is an expected part of the process of innovation.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918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Hope is not a strategy.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2062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572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7A6A"/>
                </a:solidFill>
                <a:latin typeface="Consolas"/>
              </a:defRPr>
            </a:pPr>
            <a:r>
              <a:t>리스크 관리  |  에러 버짓  |  가용성  |  요청 성공률  |  SLO  |  비용-편익 분석  |  리스크 허용 범위  |  서비스 레벨  |  나인(nines)  |  혁신 속도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2: 원칙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7A6A"/>
                </a:solidFill>
                <a:latin typeface="Consolas"/>
              </a:defRPr>
            </a:pPr>
            <a:r>
              <a:t>Chapter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Service Level Objectives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004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SLI(Service Level Indicator)는 서비스 수준의 정량적 측정 지표이다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SLO(Service Level Objective)는 SLI의 목표값 또는 범위이다 (예: 지연시간 &lt; 100ms, 99% 이상)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SLA(Service Level Agreement)는 SLO를 포함하며 미달 시 결과(보상/벌칙)가 따르는 계약이다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2: 원칙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04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핵심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SLI(Service Level Indicator)는 서비스 수준의 정량적 측정 지표이다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SLO(Service Level Objective)는 SLI의 목표값 또는 범위이다 (예: 지연시간 &lt; 100ms, 99% 이상)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SLA(Service Level Agreement)는 SLO를 포함하며 미달 시 결과(보상/벌칙)가 따르는 계약이다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서비스 유형별 핵심 SLI: 사용자 대면(가용성, 지연, 처리량), 스토리지(지연, 가용성, 내구성), 빅데이터(처리량, E2E 지연)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평균값보다 백분위수(percentile)를 사용해야 롱테일 지연을 포착할 수 있다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SLO를 게시하면 사용자 기대치를 설정하여 근거 없는 불만을 줄일 수 있다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SLO가 없으면 사용자는 자체적으로 기대치를 형성하며, 이는 과의존이나 과소평가로 이어진다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모든 시스템은 정확성(correctness)도 추적해야 한다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2: 원칙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04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SLO는 현재 성능이 아니라 사용자가 원하는 것에서 역방향으로 설정한다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SLO는 가능한 적게 유지한다 - 우선순위 논의에서 인용할 수 없는 SLO는 불필요하다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내부 SLO는 외부 SLO보다 엄격하게 설정하여 안전 마진을 확보한다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의도적으로 과달성하지 않는다 - Chubby처럼 계획된 장애를 통해 과의존을 방지한다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SLI 표준 템플릿을 만들어 재사용하고, 집계 간격/지역/빈도를 표준화한다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다양한 워크로드에 대해 별도의 SLO 목표를 정의한다 (처리량 클라이언트 vs 지연 클라이언트)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SLO 위반율과 에러 버짓을 비교하여 릴리스 속도를 조절하는 제어 루프를 운영한다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처음부터 완벽한 SLO를 추구하지 않고, 느슨한 목표에서 시작하여 점진적으로 조정한다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2: 원칙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D9CFC4"/>
                </a:solidFill>
                <a:latin typeface="NanumMyeongjo"/>
              </a:defRPr>
            </a:pPr>
            <a: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If you can't ever win a conversation about priorities by quoting a particular SLO, it's probably not worth having that SLO.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774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Choosing and publishing SLOs to users sets expectations about how a service will perform.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918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Chubby 사례: 과도한 가용성이 비합리적 의존성을 만들어, 의도적 다운타임을 도입했다.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2062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572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7A6A"/>
                </a:solidFill>
                <a:latin typeface="Consolas"/>
              </a:defRPr>
            </a:pPr>
            <a:r>
              <a:t>SLI  |  SLO  |  SLA  |  가용성  |  지연시간  |  처리량  |  백분위수  |  에러 버짓  |  제어 루프  |  Chubby  |  표준 템플릿  |  내구성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2: 원칙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7A6A"/>
                </a:solidFill>
                <a:latin typeface="Consolas"/>
              </a:defRPr>
            </a:pPr>
            <a:r>
              <a:t>Chapter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Eliminating Toil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004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토일(Toil)은 수동적, 반복적, 자동화 가능, 전술적, 지속적 가치 없음, 서비스 성장에 선형 비례하는 운영 작업이다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SRE 조직은 운영 작업(토일)을 각 SRE 시간의 50% 이하로 유지해야 한다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나머지 50% 이상은 미래의 토일을 줄이거나 서비스 기능을 추가하는 엔지니어링 프로젝트에 투입한다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2: 원칙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05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핵심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토일(Toil)은 수동적, 반복적, 자동화 가능, 전술적, 지속적 가치 없음, 서비스 성장에 선형 비례하는 운영 작업이다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SRE 조직은 운영 작업(토일)을 각 SRE 시간의 50% 이하로 유지해야 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나머지 50% 이상은 미래의 토일을 줄이거나 서비스 기능을 추가하는 엔지니어링 프로젝트에 투입한다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토일은 통제하지 않으면 확장되어 모든 시간을 잠식한다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토일과 오버헤드(관리 업무)를 구분해야 한다 - 팀 미팅, HR 서류 등은 토일이 아닌 오버헤드이다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소량의 토일은 성취감과 안정감을 줄 수 있으나, 과도한 토일은 독이 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SRE 인력은 서비스 규모에 서브리니어하게 확장되어야 하며, 이를 위해 엔지니어링이 필수적이다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인간 판단이 본질적으로 필요한 작업은 토일이 아닐 수 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2: 원칙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05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SRE 활동을 소프트웨어 엔지니어링, 시스템 엔지니어링, 토일, 오버헤드로 분류하여 측정한다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분기별 설문으로 토일 비율을 추적하고, 과도한 토일을 보고하는 SRE에 대해 즉시 조치한다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매주 소량의 토일을 엔지니어링으로 제거하는 습관을 만든다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온콜 로테이션은 6인 기준 최소 33%, 8인 기준 최소 25%의 토일 하한선을 만든다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토일의 주요 원인: 인터럽트(비긴급 메시지/이메일) &gt; 온콜 대응 &gt; 릴리스/푸시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토일을 과도하게 수용하면 개발팀이 더 많은 운영 작업을 SRE에 전가하는 선례가 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이상적으로 설계된 서비스는 추가 작업 없이 10배 이상 성장할 수 있어야 한다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2: 원칙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D9CFC4"/>
                </a:solidFill>
                <a:latin typeface="NanumMyeongjo"/>
              </a:defRPr>
            </a:pPr>
            <a: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If a human operator needs to touch your system during normal operations, you have a bug." - Carla Geisser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774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Let's invent more, and toil less.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918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Toil becomes toxic when experienced in large quantities.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2062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572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7A6A"/>
                </a:solidFill>
                <a:latin typeface="Consolas"/>
              </a:defRPr>
            </a:pPr>
            <a:r>
              <a:t>토일  |  엔지니어링 프로젝트  |  50% 규칙  |  자동화  |  반복 작업  |  운영 업무  |  온콜  |  서브리니어 확장  |  직원 이탈  |  경력 정체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2: 원칙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7A6A"/>
                </a:solidFill>
                <a:latin typeface="Consolas"/>
              </a:defRPr>
            </a:pPr>
            <a:r>
              <a:t>Chapter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Monitoring Distributed Systems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004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모니터링의 네 가지 골든 시그널: 지연시간(Latency), 트래픽(Traffic), 에러(Errors), 포화도(Saturation)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증상(Symptom)과 원인(Cause)을 명확히 구분해야 한다 - "무엇이 고장났는가"와 "왜 고장났는가"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화이트박스 모니터링(내부 상태 기반)과 블랙박스 모니터링(사용자 관점)을 결합하여 사용한다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2: 원칙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06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핵심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모니터링의 네 가지 골든 시그널: 지연시간(Latency), 트래픽(Traffic), 에러(Errors), 포화도(Saturation)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증상(Symptom)과 원인(Cause)을 명확히 구분해야 한다 - "무엇이 고장났는가"와 "왜 고장났는가"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화이트박스 모니터링(내부 상태 기반)과 블랙박스 모니터링(사용자 관점)을 결합하여 사용한다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페이징은 비용이 큰 행위이므로, 모든 페이지는 긴급하고 실행 가능하며 지능적 대응이 필요해야 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Google은 단순하고 빠른 모니터링 시스템을 선호하며, 자동 임계값 학습 같은 "마법" 시스템을 지양한다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이메일 알림은 가치가 매우 제한적이며 노이즈에 쉽게 매몰된다 - 대시보드를 선호한다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개별 머신 장애에 대한 알림은 대규모 시스템에서 노이즈가 너무 많아 실행 불가능하다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장기적 관점의 모니터링 결정이 중요하다 - 단기적 가용성을 희생해서라도 장기적 안정성을 확보한다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2: 원칙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06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페이지 알림 작성 시 5가지 질문으로 검증: 미탐지 조건인가? 무시 가능한가? 사용자 영향이 확실한가? 조치 가능한가? 중복인가?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증상 기반 알림에 더 많은 노력을 투입하고, 원인 기반 알림은 디버깅 보조 수단으로 제한한다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Bigtable 사례: 과도한 알림 시 SLO 목표를 일시적으로 완화하여 근본 문제 해결 시간을 확보한다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Gmail 사례: 정형화된 대응이 필요한 페이지는 자동화 대상으로, 자동화 미실행은 기술 부채 신호이다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모니터링 시스템 복잡도를 최소화한다 - 분기 1회 미만 실행되는 수집/알림 설정은 제거 대상이다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분기별 페이지 빈도 통계를 관리자에게 보고하여 팀 건강 상태를 추적한다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10~12명 SRE 팀에 1~2명의 모니터링 전담 엔지니어를 배치한다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2: 원칙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D9CFC4"/>
                </a:solidFill>
                <a:latin typeface="NanumMyeongjo"/>
              </a:defRPr>
            </a:pPr>
            <a: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Every time the pager goes off, I should be able to react with a sense of urgency. I can only react with a sense of urgency a few times a day before I become fatigued.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774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Pages with rote, algorithmic responses should be a red flag.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918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What's broken" indicates the symptom; the "why" indicates a cause.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2062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572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7A6A"/>
                </a:solidFill>
                <a:latin typeface="Consolas"/>
              </a:defRPr>
            </a:pPr>
            <a:r>
              <a:t>골든 시그널  |  지연시간  |  트래픽  |  에러  |  포화도  |  화이트박스  |  블랙박스  |  페이지  |  알림  |  증상 기반 모니터링  |  SLO  |  대시보드  |  알림 피로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2: 원칙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7A6A"/>
                </a:solidFill>
                <a:latin typeface="Consolas"/>
              </a:defRPr>
            </a:pPr>
            <a:r>
              <a:t>Chapter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The Evolution of Automation at Google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004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자동화는 힘의 배수기(force multiplier)이지만 만능약은 아니다 - 자동화보다 자율적(autonomous) 시스템이 더 우수하다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자동화의 핵심 가치: 일관성, 플랫폼화, 빠른 복구(MTTR 감소), 빠른 실행, 시간 절약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자동화의 진화 5단계: 수동 -&gt; 외부 유지 시스템별 자동화 -&gt; 외부 유지 범용 자동화 -&gt; 내부 유지 시스템별 자동화 -&gt; 자율 시스템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2: 원칙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07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핵심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자동화는 힘의 배수기(force multiplier)이지만 만능약은 아니다 - 자동화보다 자율적(autonomous) 시스템이 더 우수하다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자동화의 핵심 가치: 일관성, 플랫폼화, 빠른 복구(MTTR 감소), 빠른 실행, 시간 절약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자동화의 진화 5단계: 수동 -&gt; 외부 유지 시스템별 자동화 -&gt; 외부 유지 범용 자동화 -&gt; 내부 유지 시스템별 자동화 -&gt; 자율 시스템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자동화 플랫폼은 버그를 중앙 집중화하여 한 번 수정하면 영구적으로 해결된다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자동화 코드는 단위 테스트 코드처럼 유지보수팀이 지속적으로 동기화하지 않으면 죽는다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가장 기능적인 도구는 일반적으로 그것을 사용하는 사람이 작성한다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신뢰성은 근본적 기능이며, 자율적이고 복원력 있는 동작은 이를 달성하는 유용한 방법이다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높은 수준의 추상화는 관리가 쉽지만, "누수 추상화" 발생 시 시스템적으로 반복 실패한다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2: 원칙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07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MySQL on Borg(MoB) 사례: 자동 장애조치(Decider)로 30초 이내 95% 장애 복구, 운영 시간 95% 절감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클러스터 턴업 자동화: Prodtest(프로덕션 테스트)로 불일치 탐지, 멱등성 수정(idempotent fix)으로 자동 해결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서비스 소유팀이 자동화 코드를 직접 유지해야 한다 - 분리된 턴업 팀은 조직적 인센티브 불일치를 초래한다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SOA 방식의 클러스터 턴업: 각 서비스팀이 Admin Server를 제공하고 API 계약을 정의한다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Diskerase 사건 교훈: 빈 집합을 특수 값("모든 것")으로 해석한 자동화가 CDN 전체를 삭제했다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속도 제한(rate limiting)과 위생 검사(sanity check)를 자동화에 반드시 포함한다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충분히 큰 시스템에서는 자동화 또는 자율적 동작이 더 이상 선택사항이 아니다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2: 원칙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D9CFC4"/>
                </a:solidFill>
                <a:latin typeface="NanumMyeongjo"/>
              </a:defRPr>
            </a:pPr>
            <a: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If we are engineering processes and solutions that are not automatable, we continue having to staff humans to maintain the system." - Joseph Bironas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774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We graduated from optimizing our infrastructure for a lack of failover to embracing the idea that failure is inevitable.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918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The value of automation comes from both what it does and its judicious application.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2062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572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7A6A"/>
                </a:solidFill>
                <a:latin typeface="Consolas"/>
              </a:defRPr>
            </a:pPr>
            <a:r>
              <a:t>자동화  |  자율 시스템  |  일관성  |  플랫폼  |  MTTR  |  Borg  |  Decider  |  Prodtest  |  멱등성  |  SOA  |  클러스터 턴업  |  기술 부채  |  Diskerase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2: 원칙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7A6A"/>
                </a:solidFill>
                <a:latin typeface="Consolas"/>
              </a:defRPr>
            </a:pPr>
            <a:r>
              <a:t>Chapter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Release Engineering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004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릴리스 엔지니어링의 4대 원칙: 셀프서비스 모델, 높은 속도, 밀봉(Hermetic) 빌드, 정책/절차 강제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밀봉 빌드: 동일 리비전에서 다른 머신에서 빌드해도 동일한 결과를 보장한다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빈번한 릴리스는 버전 간 변경을 줄여 테스트와 트러블슈팅을 용이하게 한다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2: 원칙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08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핵심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릴리스 엔지니어링의 4대 원칙: 셀프서비스 모델, 높은 속도, 밀봉(Hermetic) 빌드, 정책/절차 강제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밀봉 빌드: 동일 리비전에서 다른 머신에서 빌드해도 동일한 결과를 보장한다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빈번한 릴리스는 버전 간 변경을 줄여 테스트와 트러블슈팅을 용이하게 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릴리스 프로세스는 재현 가능하고 자동화되어야 하며 "유니크 스노우플레이크"가 되어서는 안 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브랜치에서 릴리스하고 메인라인에 다시 머지하지 않으며, 버그 수정은 체리픽으로 포함한다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설정 관리는 릴리스 엔지니어와 SRE 간 긴밀한 협업 영역이다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릴리스 엔지니어링은 제품 개발 초기부터 예산에 포함해야 한다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2: 원칙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08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Rapid 시스템: 블루프린트 설정 파일로 빌드/테스트/배포 워크플로우를 정의한다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Blaze(Bazel) 빌드 도구로 의존성 자동 빌드 및 빌드 식별자 추적을 수행한다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MPM(Midas Package Manager)으로 패키지 이름/버전/서명을 관리하고 레이블로 단계를 표시한다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배포 리스크 프로파일에 맞춰 배포 전략을 차별화한다: 개발 환경(자동), 대규모 서비스(점진적 확장), 인프라(며칠에 걸친 롤아웃)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설정 배포 4가지 모델: 메인라인, 바이너리와 함께 패키징, 별도 설정 패키지, 외부 저장소(Chubby/Bigtable)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연속 테스트 시스템으로 모든 변경에 대해 단위 테스트를 실행하고, 릴리스 브랜치에서도 재실행한다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Sisyphus 롤아웃 프레임워크로 복잡한 배포를 관리한다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모든 변경에 코드 리뷰를 의무화하고, 릴리스에 포함된 모든 변경사항 보고서를 생성한다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2: 원칙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D9CFC4"/>
                </a:solidFill>
                <a:latin typeface="NanumMyeongjo"/>
              </a:defRPr>
            </a:pPr>
            <a: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Releases can be as painless as simply pressing a button.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774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It's cheaper to put good practices and process in place early, rather than have to retrofit your system later.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2918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7A6A"/>
                </a:solidFill>
                <a:latin typeface="Consolas"/>
              </a:defRPr>
            </a:pPr>
            <a:r>
              <a:t>릴리스 엔지니어링  |  Hermetic 빌드  |  Rapid  |  Blaze/Bazel  |  MPM  |  체리픽  |  카나리 배포  |  Sisyphus  |  연속 빌드  |  설정 관리  |  셀프서비스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2: 원칙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7A6A"/>
                </a:solidFill>
                <a:latin typeface="Consolas"/>
              </a:defRPr>
            </a:pPr>
            <a:r>
              <a:t>Chapter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Simplicity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004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소프트웨어 단순성은 신뢰성의 전제 조건이다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SRE의 핵심 역할: 시스템의 민첩성(agility)과 안정성(stability) 사이의 균형을 유지하는 것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본질적 복잡성(essential complexity)과 우발적 복잡성(accidental complexity)을 구분해야 한다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2: 원칙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09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핵심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소프트웨어 단순성은 신뢰성의 전제 조건이다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SRE의 핵심 역할: 시스템의 민첩성(agility)과 안정성(stability) 사이의 균형을 유지하는 것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본질적 복잡성(essential complexity)과 우발적 복잡성(accidental complexity)을 구분해야 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"지루한" 코드가 좋은 코드이다 - 프로덕션에서 놀라움은 SRE의 적이다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새로 작성되는 모든 코드 라인은 잠재적 부채이다 - 코드 추가 시 신중해야 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완벽함은 더 이상 추가할 것이 없을 때가 아니라 더 이상 제거할 것이 없을 때 달성된다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"No"라고 말하는 것은 혁신을 제한하는 것이 아니라, 진정한 엔지니어링에 집중할 수 있게 하는 것이다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신뢰성 있는 프로세스는 실제로 개발자 민첩성을 높인다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2: 원칙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09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데드 코드를 적극적으로 삭제한다 - 주석 처리나 플래그 게이팅은 시한폭탄이다 (Knight Capital 사례)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"네거티브 라인 오브 코드" 메트릭: 코드 삭제가 때로 가장 만족스러운 코딩이 될 수 있다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최소한의 API 설계: 메서드와 인수를 최소화하고, 각 메서드를 최대한 우수하게 만든다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모듈성 확보: 바이너리 간, 설정과 바이너리 간 느슨한 결합을 유지한다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API 버전 관리로 개발자가 안전하게 업그레이드할 수 있게 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릴리스 단순성: 100개 변경을 동시 배포하는 대신, 작은 배치로 나누어 영향도를 측정한다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"util" 또는 "misc" 바이너리를 프로덕션에 배포하지 않는다 - 각 컴포넌트에 명확한 목적을 부여한다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소프트웨어 비대화(bloat) 감지를 모든 수준의 테스트에 통합한다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2: 원칙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D9CFC4"/>
                </a:solidFill>
                <a:latin typeface="NanumMyeongjo"/>
              </a:defRPr>
            </a:pPr>
            <a: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The price of reliability is the pursuit of the utmost simplicity." - C.A.R. Hoare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774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Unlike a detective story, the lack of excitement, suspense, and puzzles is actually a desirable property of source code." - Robert Muth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918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Perfection is finally attained not when there is no longer more to add, but when there is no longer anything to take away." - Antoine de Saint Exupery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2062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572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7A6A"/>
                </a:solidFill>
                <a:latin typeface="Consolas"/>
              </a:defRPr>
            </a:pPr>
            <a:r>
              <a:t>단순성  |  민첩성  |  안정성  |  본질적 복잡성  |  우발적 복잡성  |  데드 코드  |  최소 API  |  모듈성  |  느슨한 결합  |  소프트웨어 비대화  |  코드 삭제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2: 원칙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999713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3D3530"/>
                </a:solidFill>
                <a:latin typeface="NanumMyeongjo"/>
              </a:defRPr>
            </a:pPr>
            <a:r>
              <a:t>End of Part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5760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A7A6A"/>
                </a:solidFill>
                <a:latin typeface="Malgun Gothic"/>
              </a:defRPr>
            </a:pPr>
            <a:r>
              <a:t>원칙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