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5: 결론 및 부록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999713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>
                <a:solidFill>
                  <a:srgbClr val="3D3530"/>
                </a:solidFill>
                <a:latin typeface="NanumMyeongjo"/>
              </a:defRPr>
            </a:pPr>
            <a:r>
              <a:t>Site Reliability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2608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A7A6A"/>
                </a:solidFill>
                <a:latin typeface="Malgun Gothic"/>
              </a:defRPr>
            </a:pPr>
            <a:r>
              <a:t>학습 자료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40480"/>
            <a:ext cx="999713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Part 5: 결론 및 부록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5: 결론 및 부록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D3530"/>
                </a:solidFill>
                <a:latin typeface="NanumMyeongjo"/>
              </a:defRPr>
            </a:pPr>
            <a:r>
              <a:t>Part 5: 결론 및 부록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73736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Chapter 33  —  Lessons Learned from Other Industries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Chapter 34  —  Conclusion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Appendix A  —  Availability Table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Appendix B  —  A Collection of Best Practices for Production Services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Appendix C  —  Example Incident State Document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Appendix D  —  Example Postmortem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Appendix E  —  Launch Coordination Checklist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Appendix F  —  Example Production Meeting Minutes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5: 결론 및 부록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7A6A"/>
                </a:solidFill>
                <a:latin typeface="Consolas"/>
              </a:defRPr>
            </a:pPr>
            <a:r>
              <a:t>Chapter 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Lessons Learned from Other Industries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004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SRE의 핵심 원칙들은 Google만의 것이 아니다 - 항공, 핵잠수함, 의료기기, 통신, 제조, 금융 등 다양한 고신뢰성 산업에서 유사한 원칙이 적용된다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Google은 대부분의 다른 산업보다 속도(velocity)에 대한 더 높은 욕구를 가진다 - 실패의 함의가 다르므로 속도와 신뢰성의 균형이 산업마다 다르다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Google의 소프트웨어 제품은 장애 시 직접적으로 생명이 위험하지 않는 환경에서 운영되므로, 오류 예산 같은 도구로 혁신과 계산된 위험 감수의 문화를 "자금 조달"할 수 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5: 결론 및 부록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33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핵심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SRE의 핵심 원칙들은 Google만의 것이 아니다 - 항공, 핵잠수함, 의료기기, 통신, 제조, 금융 등 다양한 고신뢰성 산업에서 유사한 원칙이 적용된다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Google은 대부분의 다른 산업보다 속도(velocity)에 대한 더 높은 욕구를 가진다 - 실패의 함의가 다르므로 속도와 신뢰성의 균형이 산업마다 다르다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Google의 소프트웨어 제품은 장애 시 직접적으로 생명이 위험하지 않는 환경에서 운영되므로, 오류 예산 같은 도구로 혁신과 계산된 위험 감수의 문화를 "자금 조달"할 수 있다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Google은 다른 산업에서 개발되고 연마된 알려진 신뢰성 원칙을 적응하여 규모, 복잡성, 속도와 높은 신뢰성의 균형을 맞추는 고유한 신뢰성 문화를 창출했다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5: 결론 및 부록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33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 (1/2)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비교의 4가지 핵심 테마: (1) 준비성과 재해 테스트 (2) 포스트모템 문화 (3) 자동화와 운영 오버헤드 감소 (4) 구조화되고 합리적인 의사결정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준비성과 재해 테스트: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안전에 대한 조직적 집착: 제조업에서 모든 관리 회의가 안전 논의로 시작됨, 핵/군사/철도 산업의 명확한 안전 무결성 수준(SIL 1-4)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세부 사항에 대한 주의: 핵잠수함에서 윤활유 관리 같은 작은 작업의 소홀이 대형 실패로 이어질 수 있음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스윙 용량: 통신 산업의 이동식 전화국(SOW)으로 예측 불가 이벤트 대응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시뮬레이션과 실전 훈련: 항공은 실제 테스트 불가하여 극도로 현실적인 시뮬레이터 사용, 핵 해군은 주 2-3일 실전 훈련 수행, 구조원은 "미스터리 쇼퍼" 방식의 모의 익사 훈련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훈련 및 인증: 생명이 관련된 산업에서 엄격한 인증과 주기적 재인증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상세 요구사항 수집과 설계: 의료기기/군방 산업에서 설계에 1년, 코딩에 3주 - Google의 "출시 후 반복" 문화와 대조적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심층 방어: 핵발전소의 다중 보호 계층과 최종 물리적 장벽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포스트모템 문화: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CAPA(시정 및 예방 조치)는 산업 전반의 보편적 개념 - 동기(규제/안전/학습)가 주요 차이점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규제 기관: FCC(통신), FAA(항공), OSHA(제조), FDA(의료기기) 등 장애 발생 시 책임 추궁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5: 결론 및 부록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33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 (2/2)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니어 미스(near miss): 제조/화학 산업에서 실제 사고가 아닌 "거의 사고"도 면밀히 검토 - "잠복 오류 + 가능 조건 = 계획대로 되지 않는 것"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구조원 문화: "구조원 발이 물에 닿으면 서류 작업이 있다" - 비난 없는 인시던트 분석 문화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자동화: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핵 해군: 자동화를 기피하고 인간 의사결정 체인(운영자→감독자→당직 장교)을 선호 - 자동 시스템이 인간이 감지할 문제를 놓칠 우려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금융(Knight Capital): 잘못 구성된 자동화로 수시간 만에 4.4억 달러 손실 사례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제조업: 효율성과 비용 절감을 위해 자동화 적극 수용 - 인간보다 신뢰성 있고 반복 가능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핵발전소: 30분 이내 대응 필요 시 반드시 자동화 규칙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레이저 안과 수술: 자동 홍채 매칭으로 환자 데이터 혼동이라는 전체 의료 오류 클래스가 사라짐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구조적 의사결정: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통신/핵: "작동한다면 바꾸지 마라" 접근 - 1980년대 스위치가 여전히 운영 중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플레이북 기반 산업: 변화가 느린 산업에서 모든 시나리오를 체크리스트/"바인더"에 포함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금융: 트레이더와 별도의 집행 팀(enforcement team)이 위험 관리 - "거래하지 않으면 돈을 잃지 않는다"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5: 결론 및 부록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D9CFC4"/>
                </a:solidFill>
                <a:latin typeface="NanumMyeongjo"/>
              </a:defRPr>
            </a:pPr>
            <a: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If we aren't trading, we aren't losing money. We aren't making money either, but at least we aren't losing money." - John 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774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Latent error, plus an enabling condition, equals things not working quite the way you planned." - VM Brasseur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2918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7A6A"/>
                </a:solidFill>
                <a:latin typeface="Consolas"/>
              </a:defRPr>
            </a:pPr>
            <a:r>
              <a:t>타 산업 교훈  |  고신뢰성 산업  |  재해 테스트  |  DiRT  |  포스트모템  |  CAPA  |  니어 미스  |  자동화  |  심층 방어  |  오류 예산  |  안전 무결성 수준  |  Knight Capital  |  핵 해군  |  제조업  |  구조원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5: 결론 및 부록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7A6A"/>
                </a:solidFill>
                <a:latin typeface="Consolas"/>
              </a:defRPr>
            </a:pPr>
            <a:r>
              <a:t>Chapter 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Conclusion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004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SRE의 압도적 성공의 열쇠는 그 운영 원칙의 본질에 있다 - 일반적이면서도 미래에도 적용 가능한 유연한 규칙 체계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SRE는 파일럿이자 엔지니어/설계자의 역할을 동시에 수행한다 - 대규모 인프라 운영 경험을 실제 코드로 체계화하여 재사용 가능한 제품으로 패키징한다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SRE의 핵심 책임과 관심사는 시간이 지나도 일관되지만, 구체적 활동은 서비스와 역량의 성숙에 따라 진화한다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5: 결론 및 부록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34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핵심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SRE의 압도적 성공의 열쇠는 그 운영 원칙의 본질에 있다 - 일반적이면서도 미래에도 적용 가능한 유연한 규칙 체계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SRE는 파일럿이자 엔지니어/설계자의 역할을 동시에 수행한다 - 대규모 인프라 운영 경험을 실제 코드로 체계화하여 재사용 가능한 제품으로 패키징한다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SRE의 핵심 책임과 관심사는 시간이 지나도 일관되지만, 구체적 활동은 서비스와 역량의 성숙에 따라 진화한다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SRE 팀은 가능한 한 소규모여야 하며 높은 수준의 추상화에서 운영하되, 시스템의 일상적 운영에서 오는 포괄적 지식도 갖추어야 한다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5: 결론 및 부록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34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SRE 팀 구성: 두 가지 동등하게 중요한 업무 유형 사이에 시간을 분배 - 온콜 교대로 시스템이 어디서 어떻게 깨지는지 관찰하고, 이를 관리하기 쉽게 만들 것을 설계하고 구축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경험의 코드화: 대규모 컴퓨팅 인프라 운영 경험을 실제 코드로 구현하고 개별 제품으로 패키징하여 다른 SRE 팀과 Google 전체(심지어 Google Cloud를 통해 외부에도) 공유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항공 산업 비유: 100년 전 비행기는 단일 엔진에 파일럿이 정비사도 겸했지만, 오늘날 747은 수백 명의 승객과 수톤의 화물을 싣고 대륙 간 비행하면서도 조종석에는 여전히 두 명의 파일럿만 있다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확장의 비밀: 잘 설계되고 접근 가능한 인터페이스, 충분한 유연성, 훈련된 운영자, 견고한 백업 시스템과 신중한 API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SRE의 불변 관심사: 시스템이 1,000배 커져도 여전히 신뢰성, 유연성, 비상 관리 용이성, 모니터링, 용량 계획이 필요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활동의 진화: "20대 머신의 대시보드 구축"에서 "수만 대 머신 플릿의 자동 발견, 대시보드 구축, 알림 자동화"로 발전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Ben Treynor Sloss의 서론에서 제시한 책임과 원칙이 10년이 지나도 여전히 정확하게 적용됨 - 인프라와 팀의 변화와 성장에도 불구하고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5: 결론 및 부록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D9CFC4"/>
                </a:solidFill>
                <a:latin typeface="NanumMyeongjo"/>
              </a:defRPr>
            </a:pPr>
            <a: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The interfaces to the plane's operating systems are well thought out and approachable enough that learning how to pilot them in normal conditions is not an insurmountable task.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774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An SRE team should be as compact as possible and operate at a high level of abstraction, relying upon lots of backup systems as failsafes and thoughtful APIs to communicate with the systems.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2918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7A6A"/>
                </a:solidFill>
                <a:latin typeface="Consolas"/>
              </a:defRPr>
            </a:pPr>
            <a:r>
              <a:t>SRE 결론  |  항공 비유  |  경험의 코드화  |  추상화  |  파일럿과 엔지니어  |  확장성  |  미래 지향 원칙  |  Google Cloud  |  인터페이스 설계  |  소규모 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5: 결론 및 부록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7A6A"/>
                </a:solidFill>
                <a:latin typeface="Consolas"/>
              </a:defRPr>
            </a:pPr>
            <a:r>
              <a:t>Appendix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Availability 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004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가용성은 일반적으로 특정 기간 동안 서비스가 사용 불가능했던 시간을 기반으로 계산된다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계획된 다운타임이 없다고 가정하면, 가용성 수준에 따라 허용 가능한 비가용 시간이 극적으로 줄어든다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부분적으로 가용한 서비스(예: 일부 복제본만 불가용)나 부하가 변동하는 서비스의 경우, 집계된 비가용성 메트릭("전체 운영의 X%가 실패")이 단순 장애 시간보다 유용하다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5: 결론 및 부록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Appendix A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핵심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가용성은 일반적으로 특정 기간 동안 서비스가 사용 불가능했던 시간을 기반으로 계산된다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계획된 다운타임이 없다고 가정하면, 가용성 수준에 따라 허용 가능한 비가용 시간이 극적으로 줄어든다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부분적으로 가용한 서비스(예: 일부 복제본만 불가용)나 부하가 변동하는 서비스의 경우, 집계된 비가용성 메트릭("전체 운영의 X%가 실패")이 단순 장애 시간보다 유용하다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5: 결론 및 부록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Appendix A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90% 가용성: 연간 36.5일, 일당 2.4시간의 다운타임 허용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99% 가용성: 연간 3.65일, 일당 14.4분의 다운타임 허용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99.9% 가용성(쓰리 나인): 연간 8.76시간, 일당 1.44분의 다운타임 허용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99.99% 가용성(포 나인): 연간 52.6분, 일당 8.64초의 다운타임 허용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99.999% 가용성(파이브 나인): 연간 5.26분, 일당 0.87초의 다운타임 허용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시간 기반 가용성과 집계 기반 가용성 공식은 Chapter 3(리스크 수용)에서 상세히 다룸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5: 결론 및 부록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D9CFC4"/>
                </a:solidFill>
                <a:latin typeface="NanumMyeongjo"/>
              </a:defRPr>
            </a:pPr>
            <a: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Using an aggregate unavailability metric is more useful than focusing on outage lengths for services that may be partially available.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3774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7A6A"/>
                </a:solidFill>
                <a:latin typeface="Consolas"/>
              </a:defRPr>
            </a:pPr>
            <a:r>
              <a:t>가용성 테이블  |  나인(nines)  |  다운타임  |  SLO  |  시간 기반 가용성  |  집계 기반 가용성  |  부분 가용성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5: 결론 및 부록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7A6A"/>
                </a:solidFill>
                <a:latin typeface="Consolas"/>
              </a:defRPr>
            </a:pPr>
            <a:r>
              <a:t>Appendix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A Collection of Best Practices for Production Services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004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합리적으로 실패하라(Fail Sanely): 잘못된 입력 수신 시 이전 상태로 계속 운영하면서 알림을 보내라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모든 비긴급 롤아웃은 반드시 단계적으로 진행하되 감독하에 수행하라 - 예상치 못한 동작이 감지되면 먼저 롤백하고 나중에 진단하라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모니터링은 페이지, 티켓, 로깅의 세 가지 출력 유형만 가져야 한다 - 이메일 알림에 의존하는 것은 /dev/null로 파이프하는 것의 도덕적 등가물이다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5: 결론 및 부록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Appendix B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핵심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합리적으로 실패하라(Fail Sanely): 잘못된 입력 수신 시 이전 상태로 계속 운영하면서 알림을 보내라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모든 비긴급 롤아웃은 반드시 단계적으로 진행하되 감독하에 수행하라 - 예상치 못한 동작이 감지되면 먼저 롤백하고 나중에 진단하라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모니터링은 페이지, 티켓, 로깅의 세 가지 출력 유형만 가져야 한다 - 이메일 알림에 의존하는 것은 /dev/null로 파이프하는 것의 도덕적 등가물이다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포스트모템은 비난 없이(blameless) 프로세스와 기술에 초점을 맞추라 - 관련자가 이용 가능한 정보로 최선의 선택을 했다고 가정하라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5: 결론 및 부록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Appendix B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Fail Sanely: 구성 입력의 문법과 의미론 검증, 빈 데이터와 잘린 데이터 감시, 이전 버전 대비 N% 이상 축소 시 알림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2005년 DNS 사례: 빈 DNS 파일 수락으로 6분간 모든 Google 속성에 NXDOMAIN 응답 → 이후 google.com VIP 존재 확인 등 입력 검증 도입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2009년 맬웨어 표시 사례: "/"로 모든 URL이 매칭되어 전체 웹이 맬웨어로 표시 → 급격한 파일 크기 변경 확인 필요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SLO 정의: 서버가 아닌 사용자 관점에서 가용성과 성능을 측정 → Gmail이 99.0%에서 99.9% 이상으로 개선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오류 예산: 1 - SLO = 예산, 예산 소진 시 긴급 보안/버그 수정 외 변경 동결, 성숙 서비스(99.99%+)는 분기별 리셋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용량 계획: N+2 구성으로 계획적/비계획적 동시 장애 처리, 부하 테스트로 리소스-용량 비율 검증, 출시일 부하와 정상 부하 구분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과부하 시: 합리적이지만 최적이 아닌 결과 제공(검색 시 인덱스 축소), 우아한 부하 차단, 타르피팅, 일관된 클라이언트 서브셋에 오류 전달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재시도: 모든 RPC 클라이언트에 지터를 포함한 지수적 백오프 필수 - 특히 모바일 클라이언트는 업데이트에 수주 소요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SRE 팀: 운영 작업 50% 이하 유지, 최소 8명 온콜 팀, 교대당 최대 2건 이벤트 처리, 제품 개발자를 온콜 로테이션에 포함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역설: 모범 사례를 잘 구현하면 인시던트가 드물어져 대응 연습이 부족해질 수 있으므로 정기적 재난 역할극 필요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5: 결론 및 부록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D9CFC4"/>
                </a:solidFill>
                <a:latin typeface="NanumMyeongjo"/>
              </a:defRPr>
            </a:pPr>
            <a: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Putting alerts into email and hoping that someone will read all of them and notice the important ones is the moral equivalent of piping them to /dev/null.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774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We can't fix the people, but must instead fix their environment.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2918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7A6A"/>
                </a:solidFill>
                <a:latin typeface="Consolas"/>
              </a:defRPr>
            </a:pPr>
            <a:r>
              <a:t>Fail Sanely  |  점진적 롤아웃  |  SLO  |  오류 예산  |  모니터링 출력 유형  |  비난 없는 포스트모템  |  N+2 용량  |  과부하 처리  |  지수적 백오프  |  50% 운영 상한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5: 결론 및 부록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7A6A"/>
                </a:solidFill>
                <a:latin typeface="Consolas"/>
              </a:defRPr>
            </a:pPr>
            <a:r>
              <a:t>Appendix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Example Incident State Document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004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인시던트 상태 문서는 활성 인시던트 동안 실시간으로 유지되는 중앙 커뮤니케이션 문서이다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명확한 지휘 체계(Command Hierarchy)를 수립하여 인시던트 커맨더, 운영 리드, 계획 리드, 커뮤니케이션 리드를 지정한다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최소 4시간마다 또는 커뮤니케이션 리드 교대 시 상세 상태를 업데이트한다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5: 결론 및 부록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Appendix C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핵심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인시던트 상태 문서는 활성 인시던트 동안 실시간으로 유지되는 중앙 커뮤니케이션 문서이다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명확한 지휘 체계(Command Hierarchy)를 수립하여 인시던트 커맨더, 운영 리드, 계획 리드, 커뮤니케이션 리드를 지정한다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최소 4시간마다 또는 커뮤니케이션 리드 교대 시 상세 상태를 업데이트한다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5: 결론 및 부록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Appendix C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문서 구조: 요약 → 상태(활성/해결) → 커맨드 포스트(IRC 채널) → 지휘 체계 → 상세 상태 → 종료 기준 → TODO 목록 → 인시던트 타임라인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종료 기준(Exit Criteria): 인시던트가 종료되기 위해 충족해야 할 구체적 조건 명시 - 예: 가용성 SLO 99.99% 달성, 99%ile 지연 100ms 미만을 30분 이상 유지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타임라인: 최신 항목이 상단에 위치하도록 역순 기록, 모든 시간은 UTC로 표기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Shakespeare Sonnet++ 예시: 검색 인덱스에 없는 새 소네트 발견으로 인한 연쇄 장애 - 희생 클러스터로 트래픽 유도, MapReduce 인덱스 작업 수행, 글로벌 2배 용량 확보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TODO 항목: 완료(DONE) 또는 미완료(TODO)로 명확히 상태 표시, 관련 버그 번호 연결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5: 결론 및 부록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D9CFC4"/>
                </a:solidFill>
                <a:latin typeface="NanumMyeongjo"/>
              </a:defRPr>
            </a:pPr>
            <a: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Communications lead to keep summary updated.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3774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7A6A"/>
                </a:solidFill>
                <a:latin typeface="Consolas"/>
              </a:defRPr>
            </a:pPr>
            <a:r>
              <a:t>인시던트 상태 문서  |  인시던트 커맨더  |  지휘 체계  |  종료 기준  |  타임라인  |  커뮤니케이션 리드  |  희생 클러스터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5: 결론 및 부록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7A6A"/>
                </a:solidFill>
                <a:latin typeface="Consolas"/>
              </a:defRPr>
            </a:pPr>
            <a:r>
              <a:t>Appendix 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Example Postmortem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004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포스트모템은 비난 없이(blameless) 프로세스와 기술의 개선에 초점을 맞추는 인시던트 사후 분석 문서이다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포스트모템은 날짜, 저자, 상태, 요약, 영향, 근본 원인, 트리거, 해결, 감지, 액션 아이템, 교훈, 타임라인의 구조화된 형식을 따른다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"운이 좋았던 점(Where we got lucky)" 섹션은 사실상 니어 미스(near miss) 기록으로, 우연에 의존한 부분을 명시한다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5: 결론 및 부록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Appendix D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핵심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포스트모템은 비난 없이(blameless) 프로세스와 기술의 개선에 초점을 맞추는 인시던트 사후 분석 문서이다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포스트모템은 날짜, 저자, 상태, 요약, 영향, 근본 원인, 트리거, 해결, 감지, 액션 아이템, 교훈, 타임라인의 구조화된 형식을 따른다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"운이 좋았던 점(Where we got lucky)" 섹션은 사실상 니어 미스(near miss) 기록으로, 우연에 의존한 부분을 명시한다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5: 결론 및 부록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Appendix D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 (1/2)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액션 아이템 분류: mitigate(완화), prevent(예방), process(프로세스 개선), other - 각 항목에 담당자와 버그 번호 할당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Shakespeare Sonnet++ 포스트모템 예시: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근본 원인: 검색어가 코퍼스에 없을 때 리소스 누수(파일 디스크립터 고갈)의 잠재 버그가 비정상 트래픽 급증과 결합하여 연쇄 장애 발생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트리거: 잠재 버그가 갑작스러운 트래픽 증가에 의해 촉발됨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감지: Borgmon이 높은 HTTP 500 비율을 감지하여 온콜에 페이지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해결: 희생 클러스터로 트래픽 유도 → 10배 용량 추가 → 업데이트된 인덱스 배포 → 리소스 누수 수정 배포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5: 결론 및 부록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Appendix D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 (2/2)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교훈 - 잘된 점: 모니터링이 빠르게 알림, 업데이트된 코퍼스를 모든 클러스터에 신속 배포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교훈 - 잘못된 점: 연쇄 장애 대응 연습 부족, 가용성 오류 예산을 수 자릿수 초과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교훈 - 운이 좋았던 점: 메일링 리스트에 새 소네트 사본이 있었고, 서버 로그에 파일 디스크립터 고갈을 가리키는 스택 트레이스가 있었음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상세 타임라인: UTC 기준 분 단위로 모든 이벤트, 조치, 발견 사항을 기록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오류 예산 소진 대응: 예산 고갈로 1개월간 프로덕션 동결 또는 "기괴하고 전례 없는 상황"으로 예외 신청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주의: 즉흥적(knee-jerk) 액션 아이템은 종종 극단적이거나 구현 비용이 높으므로, 더 넓은 맥락에서 범위를 재조정해야 할 수 있다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5: 결론 및 부록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D9CFC4"/>
                </a:solidFill>
                <a:latin typeface="NanumMyeongjo"/>
              </a:defRPr>
            </a:pPr>
            <a: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Assume the people involved in an incident are intelligent, are well intentioned, and were making the best choices they could given the information they had available at the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3774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7A6A"/>
                </a:solidFill>
                <a:latin typeface="Consolas"/>
              </a:defRPr>
            </a:pPr>
            <a:r>
              <a:t>포스트모템  |  비난 없는 문화  |  근본 원인 분석  |  액션 아이템  |  오류 예산  |  연쇄 장애  |  파일 디스크립터 누수  |  타임라인  |  교훈  |  DiRT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5: 결론 및 부록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7A6A"/>
                </a:solidFill>
                <a:latin typeface="Consolas"/>
              </a:defRPr>
            </a:pPr>
            <a:r>
              <a:t>Appendix 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Launch Coordination Checklist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004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출시 조정 체크리스트는 Google의 2005년경 원본 체크리스트로, 새 제품/서비스 출시 시 반복 가능한 신뢰성을 보장하기 위한 도구이다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체크리스트는 아키텍처부터 일정까지 출시의 모든 기술적 측면을 체계적으로 점검한다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5: 결론 및 부록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Appendix E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핵심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출시 조정 체크리스트는 Google의 2005년경 원본 체크리스트로, 새 제품/서비스 출시 시 반복 가능한 신뢰성을 보장하기 위한 도구이다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체크리스트는 아키텍처부터 일정까지 출시의 모든 기술적 측면을 체계적으로 점검한다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5: 결론 및 부록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Appendix E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아키텍처: 아키텍처 스케치, 서버 유형, 클라이언트 요청 유형, 프로그래밍 방식 클라이언트 요청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머신 및 데이터센터: 머신/대역폭, N+2 중복, 네트워크 QoS, DNS 부하 분산, 새 도메인 이름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용량/성능: HTTP 트래픽 추정, 출시 스파이크, 트래픽 믹스, 6개월 전망, 부하 테스트, 종단 간 테스트, 타 서비스 영향, 스토리지 용량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시스템 신뢰성/페일오버: 머신 사망/랙 실패/클러스터 오프라인/네트워크 장애 시 대응, 백엔드 사망 감지 및 대처, 클라이언트 영향 없는 종료/재시작, 부하 분산/속도 제한/타임아웃/재시도/오류 처리, 데이터 백업/복원/재해 복구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모니터링/서버 관리: 내부 상태 모니터링, 종단 간 동작 모니터링, 알림 관리, 모니터링의 모니터링, 재정적으로 중요한 알림과 로그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보안: 보안 설계 검토, 코드 감사, 스팸 위험, 인증, SSL, 출시 전 가시성/접근 제어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자동화/수동 작업: 서버/데이터/구성 업데이트 방법 및 변경 통제, 릴리스 프로세스, 반복 가능한 빌드, 라이브 트래픽 카나리, 단계적 롤아웃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성장 이슈: 여유 용량, 10배 성장 대비, 성장 알림, 확장성 병목, 선형 스케일링, 캐싱, 데이터 샤딩/리샤딩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외부 의존성: 서드파티 시스템, 모니터링, 네트워킹, 트래픽 볼륨, 우아한 저하, 서드파티 서비스 과부하 방지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일정/롤아웃 계획: 하드 데드라인, 외부 이벤트, 월요일/금요일 배포 주의, 표준 운영 절차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5: 결론 및 부록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D9CFC4"/>
                </a:solidFill>
                <a:latin typeface="NanumMyeongjo"/>
              </a:defRPr>
            </a:pPr>
            <a: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This is Google's original Launch Coordination Checklist, circa 2005.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3774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7A6A"/>
                </a:solidFill>
                <a:latin typeface="Consolas"/>
              </a:defRPr>
            </a:pPr>
            <a:r>
              <a:t>출시 체크리스트  |  LCE  |  아키텍처  |  N+2 중복  |  부하 테스트  |  페일오버  |  모니터링  |  보안 감사  |  카나리  |  단계적 롤아웃  |  용량 계획  |  외부 의존성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5: 결론 및 부록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7A6A"/>
                </a:solidFill>
                <a:latin typeface="Consolas"/>
              </a:defRPr>
            </a:pPr>
            <a:r>
              <a:t>Appendix 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Example Production Meeting 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004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프로덕션 미팅 회의록은 서비스 상태에 대한 팀의 공유된 인식을 기록하는 서비스 지향적 문서이다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회의록은 구조화된 의제를 따르며 장애, 페이징 이벤트, 리소스 사용, 핵심 서비스 메트릭을 체계적으로 추적한다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모든 액션 아이템에 담당자를 명시하여 추적 가능성을 보장한다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5: 결론 및 부록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Appendix F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핵심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프로덕션 미팅 회의록은 서비스 상태에 대한 팀의 공유된 인식을 기록하는 서비스 지향적 문서이다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회의록은 구조화된 의제를 따르며 장애, 페이징 이벤트, 리소스 사용, 핵심 서비스 메트릭을 체계적으로 추적한다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—  모든 액션 아이템에 담당자를 명시하여 추적 가능성을 보장한다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5: 결론 및 부록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Appendix F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회의록 구조: 날짜/참석자 → 공지 → 이전 액션 아이템 리뷰 → 장애 리뷰 → 페이징 이벤트 → 비페이징 이벤트 → 모니터링 변경/침묵 → 계획된 프로덕션 변경 → 리소스 → 핵심 서비스 메트릭 → 토론/프로젝트 업데이트 → 새 액션 아이템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Shakespeare Sonnet++ 미팅 예시: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장애 리뷰: 잠재 버그(리소스 누수) + 코퍼스 미포함 소네트 + 전례 없는 트래픽으로 12.1억 쿼리 손실, 수정 배포 완료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오류 예산 소진: 가용성 오류 예산 소멸로 1개월간 프로덕션 푸시 동결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페이징 이벤트: AnnotationConsistencyTooEventual 알림이 주 5회 발생 - 실행 불가능 알림이므로 임계값을 60초에서 180초로 상향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리소스: 인시던트 대응으로 빌린 리소스를 다음 주 반환 예정, CPU 60%, RAM 75%, 디스크 44%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핵심 메트릭: 99%ile 지연 88ms(OK), 가용성 86.95%(BAD - SLO 99.99% 미달)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실행 불가능 알림의 처리: 근본 원인 수정이 완료될 때까지 임계값을 조정하여 노이즈를 줄임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계획된 변경: 클러스터 유지보수 예정 시 트래픽 자동 라우팅 확인으로 대응 불필요 확인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이전 액션 아이템 추적: 지속적으로 진행 상황을 검토하여 완료 여부 확인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5: 결론 및 부록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D9CFC4"/>
                </a:solidFill>
                <a:latin typeface="NanumMyeongjo"/>
              </a:defRPr>
            </a:pPr>
            <a: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Annihilated availability error budget; pushes to prod frozen for 1 month.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3774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7A6A"/>
                </a:solidFill>
                <a:latin typeface="Consolas"/>
              </a:defRPr>
            </a:pPr>
            <a:r>
              <a:t>프로덕션 미팅  |  회의록  |  장애 리뷰  |  페이징 이벤트  |  오류 예산  |  핵심 메트릭  |  액션 아이템  |  모니터링 임계값  |  리소스 사용  |  서비스 상태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5: 결론 및 부록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999713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3D3530"/>
                </a:solidFill>
                <a:latin typeface="NanumMyeongjo"/>
              </a:defRPr>
            </a:pPr>
            <a:r>
              <a:t>End of Part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5760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A7A6A"/>
                </a:solidFill>
                <a:latin typeface="Malgun Gothic"/>
              </a:defRPr>
            </a:pPr>
            <a:r>
              <a:t>결론 및 부록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