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>
                <a:solidFill>
                  <a:srgbClr val="3D3530"/>
                </a:solidFill>
                <a:latin typeface="NanumMyeongjo"/>
              </a:defRPr>
            </a:pPr>
            <a:r>
              <a:t>Site Reliability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A7A6A"/>
                </a:solidFill>
                <a:latin typeface="Malgun Gothic"/>
              </a:defRPr>
            </a:pPr>
            <a:r>
              <a:t>학습 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Part 1: 서론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D3530"/>
                </a:solidFill>
                <a:latin typeface="NanumMyeongjo"/>
              </a:defRPr>
            </a:pPr>
            <a:r>
              <a:t>Part 1: 서론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01  —  Introduction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D3530"/>
                </a:solidFill>
                <a:latin typeface="Malgun Gothic"/>
              </a:rPr>
              <a:t>Chapter 02  —  The Production Environment at Google, from the Viewpoint of an SRE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SRE는 소프트웨어 엔지니어에게 운영 팀 설계를 맡겼을 때 탄생하는 접근법이다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전통적 시스템 관리자 모델은 서비스 규모에 비례하여 인력이 증가하는 구조적 한계를 가진다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개발팀과 운영팀 간의 구조적 갈등(변경 속도 vs 안정성)은 에러 버짓으로 해소할 수 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SRE는 소프트웨어 엔지니어에게 운영 팀 설계를 맡겼을 때 탄생하는 접근법이다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전통적 시스템 관리자 모델은 서비스 규모에 비례하여 인력이 증가하는 구조적 한계를 가진다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개발팀과 운영팀 간의 구조적 갈등(변경 속도 vs 안정성)은 에러 버짓으로 해소할 수 있다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Google SRE 팀의 50~60%는 소프트웨어 엔지니어, 40~50%는 시스템 전문성을 갖춘 엔지니어로 구성된다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SRE의 운영 업무(ops work)는 전체 시간의 50%를 초과해서는 안 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100%는 거의 모든 서비스에서 잘못된 신뢰성 목표이다 - 에러 버짓이 핵심 개념이다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모니터링의 세 가지 유효한 출력: 알림(즉각 대응), 티켓(며칠 내 대응), 로깅(진단용 기록)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장애의 약 70%는 라이브 시스템의 변경으로 인해 발생한다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플레이북을 갖춘 온콜 엔지니어는 즉흥 대응 대비 MTTR을 약 3배 개선한다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3D3530"/>
                </a:solidFill>
                <a:latin typeface="Malgun Gothic"/>
              </a:rPr>
              <a:t>—  SRE 인력 규모는 시스템 규모에 대해 서브리니어(sublinear)하게 확장된다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01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에러 버짓 도입: SLO를 설정하고, 1 - 가용성 목표 = 에러 버짓으로 변경 속도와 안정성의 균형 확보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점진적 롤아웃과 자동화된 문제 감지 및 롤백으로 변경 관리 위험 최소화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온콜 시프트당 최대 2건의 이벤트로 제한하여 철저한 조사 및 학습 시간 확보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모든 중요 인시던트에 대해 비난 없는 포스트모템(blame-free postmortem) 문화 실천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수요 예측과 용량 계획은 유기적 성장과 비유기적 성장 모두를 반영해야 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모니터링에서 사람이 해석해야 하는 부분을 제거하고, 소프트웨어가 해석하도록 설계한다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Hope is not a strategy." - Traditional SRE saying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SRE is what happens when you ask a software engineer to design an operations team.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100% is the wrong reliability target for basically everything.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SRE  |  에러 버짓  |  SLO  |  운영 업무 50% 상한  |  비난 없는 포스트모템  |  변경 관리  |  모니터링  |  용량 계획  |  플레이북  |  MTTR  |  점진적 롤아웃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9997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A7A6A"/>
                </a:solidFill>
                <a:latin typeface="Consolas"/>
              </a:defRPr>
            </a:pPr>
            <a: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3D3530"/>
                </a:solidFill>
                <a:latin typeface="NanumMyeongjo"/>
              </a:defRPr>
            </a:pPr>
            <a:r>
              <a:t>The Production Environment at Google, from the Viewpoint of an SRE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2004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Google은 자체 설계한 데이터센터에서 독자적 전력, 냉각, 네트워킹, 컴퓨팅 하드웨어를 사용한다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Machine(하드웨어)과 Server(소프트웨어)를 명확히 구분하는 용어 체계를 사용한다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8A7A6A"/>
                </a:solidFill>
                <a:latin typeface="Malgun Gothic"/>
              </a:rPr>
              <a:t>—  데이터센터 토폴로지: 머신 -&gt; 랙 -&gt; 행 -&gt; 클러스터 -&gt; 데이터센터 -&gt; 캠퍼스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핵심 원칙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Google은 자체 설계한 데이터센터에서 독자적 전력, 냉각, 네트워킹, 컴퓨팅 하드웨어를 사용한다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Machine(하드웨어)과 Server(소프트웨어)를 명확히 구분하는 용어 체계를 사용한다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데이터센터 토폴로지: 머신 -&gt; 랙 -&gt; 행 -&gt; 클러스터 -&gt; 데이터센터 -&gt; 캠퍼스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Borg는 클러스터 수준에서 작업을 관리하는 분산 클러스터 운영체제이다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스토리지 계층: D(디스크) -&gt; Colossus(클러스터 파일시스템) -&gt; Bigtable/Spanner/Blobstore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Jupiter 네트워크 패브릭은 최대 1.3 Pbps의 이분 대역폭을 지원한다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B4 소프트웨어 정의 네트워크가 데이터센터 간 백본을 구성한다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GSLB(Global Software Load Balancer)는 DNS, 서비스, RPC 세 수준에서 로드 밸런싱을 수행한다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73152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7A6A"/>
                </a:solidFill>
                <a:latin typeface="Consolas"/>
              </a:rPr>
              <a:t>Chapter 02  |  </a:t>
            </a:r>
            <a:r>
              <a:rPr sz="2400">
                <a:solidFill>
                  <a:srgbClr val="3D3530"/>
                </a:solidFill>
                <a:latin typeface="NanumMyeongjo"/>
              </a:rPr>
              <a:t>주요 프랙티스 및 권고사항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645920"/>
            <a:ext cx="8686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리소스 할당을 Borg에 위임하여 하드웨어 장애를 추상화하고 자동 복구를 달성한다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BNS(Borg Naming Service)를 통해 IP/포트 대신 논리적 이름으로 태스크에 접근한다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Borg는 장애 도메인을 고려한 빈패킹으로 단일 장애 지점을 방지한다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Chubby 분산 락 서비스로 마스터 선출과 일관성 있는 데이터 저장을 처리한다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Borgmon으로 메트릭 수집, 알림 설정, 리소스 소비 추이 분석을 수행한다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Protocol Buffers(protobuf)를 RPC 통신의 직렬화 형식으로 사용 (XML 대비 20~100배 빠름)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N+2 이상의 리던던시로 업데이트 중 및 장애 발생 시에도 피크 로드 처리 가능하도록 설계한다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3D3530"/>
                </a:solidFill>
                <a:latin typeface="Malgun Gothic"/>
              </a:rPr>
              <a:t>—  데이터 접근 지연 최소화를 위해 Bigtable 등 데이터를 지역별로 복제한다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144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D9CFC4"/>
                </a:solidFill>
                <a:latin typeface="NanumMyeongjo"/>
              </a:defRPr>
            </a:pPr>
            <a: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Machines can run any server, so we don't dedicate specific machines to specific server programs.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77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3D3530"/>
                </a:solidFill>
                <a:latin typeface="NanumMyeongjo"/>
              </a:defRPr>
            </a:pPr>
            <a:r>
              <a:t>If a task tries to use more resources than it requested, Borg kills the task and restarts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291840"/>
            <a:ext cx="1828800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A7A6A"/>
                </a:solidFill>
                <a:latin typeface="Consolas"/>
              </a:defRPr>
            </a:pPr>
            <a:r>
              <a:t>Borg  |  Colossus  |  Jupiter  |  B4  |  GSLB  |  BNS  |  Chubby  |  Borgmon  |  Protocol Buffers  |  gRPC  |  Bigtable  |  Spanner  |  데이터센터 토폴로지  |  N+2 리던던시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91295" y="4114800"/>
            <a:ext cx="4572000" cy="3657600"/>
          </a:xfrm>
          <a:prstGeom prst="ellipse">
            <a:avLst/>
          </a:prstGeom>
          <a:solidFill>
            <a:srgbClr val="D9CFC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365760"/>
            <a:ext cx="109728" cy="109728"/>
          </a:xfrm>
          <a:prstGeom prst="ellipse">
            <a:avLst/>
          </a:prstGeom>
          <a:solidFill>
            <a:srgbClr val="3D3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217920"/>
            <a:ext cx="11277295" cy="9525"/>
          </a:xfrm>
          <a:prstGeom prst="rect">
            <a:avLst/>
          </a:prstGeom>
          <a:solidFill>
            <a:srgbClr val="D9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7A6A"/>
                </a:solidFill>
                <a:latin typeface="Consolas"/>
              </a:defRPr>
            </a:pPr>
            <a:r>
              <a:t>Site Reliability Engineering  —  Part 1: 서론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D3530"/>
                </a:solidFill>
                <a:latin typeface="NanumMyeongjo"/>
              </a:defRPr>
            </a:pPr>
            <a:r>
              <a:t>End of Part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99971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A7A6A"/>
                </a:solidFill>
                <a:latin typeface="Malgun Gothic"/>
              </a:defRPr>
            </a:pPr>
            <a:r>
              <a:t>서론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